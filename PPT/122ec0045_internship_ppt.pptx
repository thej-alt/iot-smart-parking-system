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61" r:id="rId2"/>
    <p:sldId id="257" r:id="rId3"/>
    <p:sldId id="263" r:id="rId4"/>
    <p:sldId id="276" r:id="rId5"/>
    <p:sldId id="277" r:id="rId6"/>
    <p:sldId id="272" r:id="rId7"/>
    <p:sldId id="278" r:id="rId8"/>
    <p:sldId id="274" r:id="rId9"/>
    <p:sldId id="264" r:id="rId10"/>
    <p:sldId id="285" r:id="rId11"/>
    <p:sldId id="281" r:id="rId12"/>
    <p:sldId id="283" r:id="rId13"/>
    <p:sldId id="286" r:id="rId14"/>
    <p:sldId id="284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706" autoAdjust="0"/>
  </p:normalViewPr>
  <p:slideViewPr>
    <p:cSldViewPr snapToGrid="0">
      <p:cViewPr>
        <p:scale>
          <a:sx n="100" d="100"/>
          <a:sy n="100" d="100"/>
        </p:scale>
        <p:origin x="19" y="5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9925" y="3002524"/>
            <a:ext cx="8631984" cy="485631"/>
          </a:xfrm>
        </p:spPr>
        <p:txBody>
          <a:bodyPr>
            <a:normAutofit/>
          </a:bodyPr>
          <a:lstStyle/>
          <a:p>
            <a:r>
              <a:rPr lang="en-IN" sz="2000" dirty="0"/>
              <a:t>Title : Smart Parking System Using ESP32, MQTT &amp; Node-RED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8517594-CF10-466B-AFB4-C1E4A1D2F201}"/>
              </a:ext>
            </a:extLst>
          </p:cNvPr>
          <p:cNvSpPr txBox="1">
            <a:spLocks/>
          </p:cNvSpPr>
          <p:nvPr/>
        </p:nvSpPr>
        <p:spPr>
          <a:xfrm>
            <a:off x="3430555" y="5485337"/>
            <a:ext cx="7467600" cy="485631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2000" b="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				</a:t>
            </a:r>
            <a:r>
              <a:rPr lang="en-IN" sz="3300" dirty="0"/>
              <a:t>Krishna Teja </a:t>
            </a:r>
            <a:r>
              <a:rPr lang="en-IN" sz="3300" dirty="0" err="1"/>
              <a:t>Regintala</a:t>
            </a:r>
            <a:r>
              <a:rPr lang="en-IN" sz="3300" dirty="0"/>
              <a:t> (122EC0045) </a:t>
            </a:r>
            <a:r>
              <a:rPr lang="en-US" dirty="0"/>
              <a:t>							</a:t>
            </a:r>
          </a:p>
          <a:p>
            <a:r>
              <a:rPr lang="en-US" dirty="0"/>
              <a:t>							</a:t>
            </a:r>
          </a:p>
        </p:txBody>
      </p:sp>
      <p:pic>
        <p:nvPicPr>
          <p:cNvPr id="7" name="Picture 4" descr="Picture 4">
            <a:extLst>
              <a:ext uri="{FF2B5EF4-FFF2-40B4-BE49-F238E27FC236}">
                <a16:creationId xmlns:a16="http://schemas.microsoft.com/office/drawing/2014/main" id="{9BFBB3A4-9DB8-2DBA-4916-98CE7F3B7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13" y="445182"/>
            <a:ext cx="996664" cy="996664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733D82-049D-F529-C824-769C5BB01798}"/>
              </a:ext>
            </a:extLst>
          </p:cNvPr>
          <p:cNvSpPr txBox="1"/>
          <p:nvPr/>
        </p:nvSpPr>
        <p:spPr>
          <a:xfrm>
            <a:off x="2199925" y="445182"/>
            <a:ext cx="86982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effectLst/>
                <a:latin typeface="Google Sans"/>
              </a:rPr>
              <a:t>Indian Institute Of Information Technology, Design &amp; Manufacturing, Kurnool</a:t>
            </a:r>
            <a:endParaRPr lang="en-IN" sz="2800" b="1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033A6AE-70B9-C55E-2F78-A5D00AD2FDB5}"/>
              </a:ext>
            </a:extLst>
          </p:cNvPr>
          <p:cNvSpPr txBox="1">
            <a:spLocks/>
          </p:cNvSpPr>
          <p:nvPr/>
        </p:nvSpPr>
        <p:spPr>
          <a:xfrm>
            <a:off x="2199925" y="1958091"/>
            <a:ext cx="8631984" cy="4856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76000"/>
              </a:lnSpc>
              <a:spcBef>
                <a:spcPct val="0"/>
              </a:spcBef>
              <a:buNone/>
              <a:defRPr sz="80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dirty="0"/>
              <a:t>SAMSUNG INNOVATION CAMPUS INTERNSHIP (Oct 2025 – Jan 2026)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Objective</a:t>
            </a:r>
          </a:p>
          <a:p>
            <a:r>
              <a:rPr lang="en-US" dirty="0"/>
              <a:t>Scope 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Detailed Description of this Project</a:t>
            </a:r>
          </a:p>
          <a:p>
            <a:r>
              <a:rPr lang="en-US" dirty="0"/>
              <a:t>Equipment/Tools Required</a:t>
            </a:r>
          </a:p>
          <a:p>
            <a:r>
              <a:rPr lang="en-US" dirty="0"/>
              <a:t>Implementation Details</a:t>
            </a:r>
          </a:p>
          <a:p>
            <a:r>
              <a:rPr lang="en-US" dirty="0"/>
              <a:t>Results and Discussions</a:t>
            </a:r>
          </a:p>
          <a:p>
            <a:r>
              <a:rPr lang="en-US" dirty="0"/>
              <a:t>Future Work</a:t>
            </a:r>
          </a:p>
          <a:p>
            <a:r>
              <a:rPr lang="en-US" dirty="0"/>
              <a:t>Summary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16EAE-E42C-40F2-B32A-91E7C97A3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531446"/>
            <a:ext cx="9601200" cy="708392"/>
          </a:xfrm>
        </p:spPr>
        <p:txBody>
          <a:bodyPr>
            <a:normAutofit/>
          </a:bodyPr>
          <a:lstStyle/>
          <a:p>
            <a:r>
              <a:rPr lang="en-US" sz="2800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399" y="1340338"/>
            <a:ext cx="9464749" cy="2200032"/>
          </a:xfrm>
        </p:spPr>
        <p:txBody>
          <a:bodyPr/>
          <a:lstStyle/>
          <a:p>
            <a:r>
              <a:rPr lang="en-US" dirty="0"/>
              <a:t>To develop an </a:t>
            </a:r>
            <a:r>
              <a:rPr lang="en-US" b="1" dirty="0"/>
              <a:t>IoT-based Smart Parking System</a:t>
            </a:r>
            <a:r>
              <a:rPr lang="en-US" dirty="0"/>
              <a:t> for real-time parking monitoring. </a:t>
            </a:r>
          </a:p>
          <a:p>
            <a:r>
              <a:rPr lang="en-US" dirty="0"/>
              <a:t>To </a:t>
            </a:r>
            <a:r>
              <a:rPr lang="en-US" b="1" dirty="0"/>
              <a:t>automatically detect vehicle entry, exit, and slot occupancy</a:t>
            </a:r>
            <a:r>
              <a:rPr lang="en-US" dirty="0"/>
              <a:t> using sensors. </a:t>
            </a:r>
          </a:p>
          <a:p>
            <a:r>
              <a:rPr lang="en-US" dirty="0"/>
              <a:t>To provide </a:t>
            </a:r>
            <a:r>
              <a:rPr lang="en-US" b="1" dirty="0"/>
              <a:t>real-time data visualization and alerts</a:t>
            </a:r>
            <a:r>
              <a:rPr lang="en-US" dirty="0"/>
              <a:t> using MQTT and Node-RED.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C5FF9-38A7-4A06-A91A-0F6F1665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4E03BF1-E796-113F-4EEA-7A70A43A5868}"/>
              </a:ext>
            </a:extLst>
          </p:cNvPr>
          <p:cNvSpPr txBox="1">
            <a:spLocks/>
          </p:cNvSpPr>
          <p:nvPr/>
        </p:nvSpPr>
        <p:spPr>
          <a:xfrm>
            <a:off x="1350108" y="3069677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Scope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AE6447-7DCA-D185-24AB-2781EF05C0FF}"/>
              </a:ext>
            </a:extLst>
          </p:cNvPr>
          <p:cNvSpPr txBox="1">
            <a:spLocks/>
          </p:cNvSpPr>
          <p:nvPr/>
        </p:nvSpPr>
        <p:spPr>
          <a:xfrm>
            <a:off x="1295399" y="4381408"/>
            <a:ext cx="9464749" cy="1738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/>
              <a:t>Can be implemented in </a:t>
            </a:r>
            <a:r>
              <a:rPr lang="en-US" b="1"/>
              <a:t>shopping malls, hospitals, and campuses</a:t>
            </a:r>
            <a:r>
              <a:rPr lang="en-US"/>
              <a:t> for efficient parking management. </a:t>
            </a:r>
          </a:p>
          <a:p>
            <a:pPr>
              <a:buFont typeface="Arial" pitchFamily="34" charset="0"/>
              <a:buChar char="•"/>
            </a:pPr>
            <a:r>
              <a:rPr lang="en-US"/>
              <a:t>Helps in </a:t>
            </a:r>
            <a:r>
              <a:rPr lang="en-US" b="1"/>
              <a:t>reducing traffic congestion and fuel wastage</a:t>
            </a:r>
            <a:r>
              <a:rPr lang="en-US"/>
              <a:t> in urban areas. </a:t>
            </a:r>
          </a:p>
          <a:p>
            <a:pPr>
              <a:buFont typeface="Arial" pitchFamily="34" charset="0"/>
              <a:buChar char="•"/>
            </a:pPr>
            <a:r>
              <a:rPr lang="en-US"/>
              <a:t>Can be extended to </a:t>
            </a:r>
            <a:r>
              <a:rPr lang="en-US" b="1"/>
              <a:t>smart city applications with scalability and automation</a:t>
            </a:r>
            <a:r>
              <a:rPr lang="en-US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09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345885"/>
            <a:ext cx="9601200" cy="1142385"/>
          </a:xfrm>
        </p:spPr>
        <p:txBody>
          <a:bodyPr>
            <a:normAutofit/>
          </a:bodyPr>
          <a:lstStyle/>
          <a:p>
            <a:br>
              <a:rPr lang="en-US" sz="2800" dirty="0"/>
            </a:br>
            <a:r>
              <a:rPr lang="en-US" sz="28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399" y="1910861"/>
            <a:ext cx="9464749" cy="381000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Internet of Things (IoT)</a:t>
            </a:r>
            <a:r>
              <a:rPr lang="en-US" dirty="0"/>
              <a:t> enables devices to communicate and exchange data in real time. </a:t>
            </a:r>
          </a:p>
          <a:p>
            <a:r>
              <a:rPr lang="en-US" dirty="0"/>
              <a:t>Rapid urbanization and increasing vehicles have created </a:t>
            </a:r>
            <a:r>
              <a:rPr lang="en-US" b="1" dirty="0"/>
              <a:t>serious parking challenges</a:t>
            </a:r>
            <a:r>
              <a:rPr lang="en-US" dirty="0"/>
              <a:t>. </a:t>
            </a:r>
          </a:p>
          <a:p>
            <a:r>
              <a:rPr lang="en-US" dirty="0"/>
              <a:t>Traditional parking systems lack </a:t>
            </a:r>
            <a:r>
              <a:rPr lang="en-US" b="1" dirty="0"/>
              <a:t>automation and real-time monitoring</a:t>
            </a:r>
            <a:r>
              <a:rPr lang="en-US" dirty="0"/>
              <a:t>. </a:t>
            </a:r>
          </a:p>
          <a:p>
            <a:r>
              <a:rPr lang="en-US" dirty="0"/>
              <a:t>Smart Parking Systems use </a:t>
            </a:r>
            <a:r>
              <a:rPr lang="en-US" b="1" dirty="0"/>
              <a:t>sensors and IoT technology</a:t>
            </a:r>
            <a:r>
              <a:rPr lang="en-US" dirty="0"/>
              <a:t> to detect vehicle presence. </a:t>
            </a:r>
          </a:p>
          <a:p>
            <a:r>
              <a:rPr lang="en-US" dirty="0"/>
              <a:t>Data is processed using a </a:t>
            </a:r>
            <a:r>
              <a:rPr lang="en-US" b="1" dirty="0"/>
              <a:t>microcontroller (ESP32)</a:t>
            </a:r>
            <a:r>
              <a:rPr lang="en-US" dirty="0"/>
              <a:t> and transmitted via MQTT. </a:t>
            </a:r>
          </a:p>
          <a:p>
            <a:r>
              <a:rPr lang="en-US" dirty="0"/>
              <a:t>A </a:t>
            </a:r>
            <a:r>
              <a:rPr lang="en-US" b="1" dirty="0"/>
              <a:t>Node-RED dashboard</a:t>
            </a:r>
            <a:r>
              <a:rPr lang="en-US" dirty="0"/>
              <a:t> provides real-time visualization of parking status. </a:t>
            </a:r>
          </a:p>
          <a:p>
            <a:r>
              <a:rPr lang="en-US" dirty="0"/>
              <a:t>This system improves </a:t>
            </a:r>
            <a:r>
              <a:rPr lang="en-US" b="1" dirty="0"/>
              <a:t>efficiency, convenience, and smart city integration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5BD7F-E0A4-42C7-A29B-B528032E0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47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5BD7F-E0A4-42C7-A29B-B528032E0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4D60A6C-5857-9CE5-2264-196921EAE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220" y="1497012"/>
            <a:ext cx="9339560" cy="38639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CCDC93D-42CA-E24F-5165-4F1C5A1A6D2F}"/>
              </a:ext>
            </a:extLst>
          </p:cNvPr>
          <p:cNvSpPr txBox="1"/>
          <p:nvPr/>
        </p:nvSpPr>
        <p:spPr>
          <a:xfrm>
            <a:off x="607317" y="656492"/>
            <a:ext cx="36690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System Architecture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41027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Description of this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2BE4B-0DF8-40FB-81D1-F16F9D705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C221D33-75A8-8325-A0FD-0959A85FDF2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95400" y="1881502"/>
            <a:ext cx="582441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is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IoT-based Smart Parking 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Ultrasonic sensors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 vehicle entry, exit, and slot occupancy.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ESP32 microcontroller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processes sensor data and controls the system.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transmitted using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MQTT protocol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efficient communication.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Node-RED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displays real-time parking status and slot availability.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E72B67-AA8E-200C-D3D3-2EEDA35A6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730" y="2277707"/>
            <a:ext cx="5009211" cy="307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96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45885"/>
            <a:ext cx="9601200" cy="1142385"/>
          </a:xfrm>
        </p:spPr>
        <p:txBody>
          <a:bodyPr/>
          <a:lstStyle/>
          <a:p>
            <a:r>
              <a:rPr lang="en-US" dirty="0"/>
              <a:t>Detailed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2BE4B-0DF8-40FB-81D1-F16F9D705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670561C-28AA-3DC9-1537-2AC48310E7D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95400" y="1744735"/>
            <a:ext cx="618392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follows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layered architecture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(Sensor → ESP32 → MQTT → Dashboard).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Entry/Exit sensors maintain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vehicle count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Slot sensors detect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occupied/free status using distance measurement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event-driven communication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reduce network load.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features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monitoring, alerts, and remote access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A3E958-E6E5-A811-001C-041385FD8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633" y="2271102"/>
            <a:ext cx="4450450" cy="262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12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Equipment/Tools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3983" y="2192215"/>
            <a:ext cx="8684847" cy="3810001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b="1" dirty="0"/>
              <a:t>Microcontroller: </a:t>
            </a:r>
            <a:r>
              <a:rPr lang="en-IN" sz="1800" dirty="0"/>
              <a:t>ESP32 WROOM-32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b="1" dirty="0"/>
              <a:t>Sensors: </a:t>
            </a:r>
            <a:r>
              <a:rPr lang="en-IN" sz="1800" dirty="0"/>
              <a:t>Ultrasonic Sensors (HC-SR04) ,DHT11 Temperature &amp; Humidity Sensor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b="1" dirty="0"/>
              <a:t>Hardware Components: </a:t>
            </a:r>
            <a:r>
              <a:rPr lang="en-IN" sz="1800" dirty="0"/>
              <a:t>LEDs (status indication) ,Connecting wires &amp; Breadboard, Power supply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b="1" dirty="0"/>
              <a:t>Software Tools: </a:t>
            </a:r>
            <a:r>
              <a:rPr lang="en-IN" sz="1800" dirty="0"/>
              <a:t>Arduino IDE, MQTT Broker (EMQX), Node-RED Dashboard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34160-1C34-40DE-9B81-37E6BBA9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2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Hardware </a:t>
            </a:r>
            <a:r>
              <a:rPr lang="en-US" dirty="0"/>
              <a:t>Implementation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3E161F-B1EE-42F8-8B5B-0A8D986B2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893135A-A0A2-71C9-0373-1A44FB066A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0" y="1937942"/>
            <a:ext cx="610576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Ultrasonic sensors are placed 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entry, exit, and parking slots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Sensors detect vehicle presence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distance measurement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ESP32 acts as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 processing unit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Components are connected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GPIO pins and powered supply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LEDs are used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 indication (Free/Occupied)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9FDE69-B60C-7355-4669-5C9682D8A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185" y="1015733"/>
            <a:ext cx="3127256" cy="41087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71E31E-8C92-D674-89C0-5AA07474DE1A}"/>
              </a:ext>
            </a:extLst>
          </p:cNvPr>
          <p:cNvSpPr txBox="1"/>
          <p:nvPr/>
        </p:nvSpPr>
        <p:spPr>
          <a:xfrm>
            <a:off x="8072845" y="5399305"/>
            <a:ext cx="61038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Hardware Setup of Smart Parking System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6151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15A592-D6A6-1797-2291-FB2D41F98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F2013AC-D4F1-4D72-6258-9DBCE3B40029}"/>
              </a:ext>
            </a:extLst>
          </p:cNvPr>
          <p:cNvSpPr txBox="1">
            <a:spLocks/>
          </p:cNvSpPr>
          <p:nvPr/>
        </p:nvSpPr>
        <p:spPr>
          <a:xfrm>
            <a:off x="842107" y="472591"/>
            <a:ext cx="9601200" cy="114238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Software </a:t>
            </a:r>
            <a:r>
              <a:rPr lang="en-US" dirty="0"/>
              <a:t>Implementation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857EAD9-D1AB-EB5C-5C6F-3D600D773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798" y="1298079"/>
            <a:ext cx="5863492" cy="541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1800" dirty="0"/>
              <a:t>Program developed using </a:t>
            </a:r>
            <a:r>
              <a:rPr lang="en-US" sz="1800" b="1" dirty="0"/>
              <a:t>Arduino IDE </a:t>
            </a:r>
            <a:br>
              <a:rPr lang="en-US" sz="1800" b="1" dirty="0"/>
            </a:br>
            <a:r>
              <a:rPr lang="en-US" sz="1800" b="1" dirty="0"/>
              <a:t>(Embedded C/C++)</a:t>
            </a:r>
            <a:r>
              <a:rPr lang="en-US" sz="1800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endParaRPr lang="en-US" sz="1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1800" dirty="0"/>
              <a:t>ESP32 reads sensor data and processes vehicle count &amp; slot status.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endParaRPr lang="en-US" sz="1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1800" dirty="0"/>
              <a:t>Data is transmitted using </a:t>
            </a:r>
            <a:r>
              <a:rPr lang="en-US" sz="1800" b="1" dirty="0"/>
              <a:t>MQTT publish–</a:t>
            </a:r>
            <a:br>
              <a:rPr lang="en-US" sz="1800" b="1" dirty="0"/>
            </a:br>
            <a:r>
              <a:rPr lang="en-US" sz="1800" b="1" dirty="0"/>
              <a:t>subscribe protocol</a:t>
            </a:r>
            <a:r>
              <a:rPr lang="en-US" sz="1800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endParaRPr lang="en-US" sz="1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1800" dirty="0"/>
              <a:t>Node-RED subscribes to MQTT topics and updates dashboard.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endParaRPr lang="en-US" sz="1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1800" dirty="0"/>
              <a:t>Topics include:</a:t>
            </a:r>
          </a:p>
          <a:p>
            <a:r>
              <a:rPr lang="en-US" sz="1800" dirty="0"/>
              <a:t>parking/status</a:t>
            </a:r>
          </a:p>
          <a:p>
            <a:r>
              <a:rPr lang="en-US" sz="1800" dirty="0"/>
              <a:t>parking/slots/available </a:t>
            </a:r>
          </a:p>
          <a:p>
            <a:r>
              <a:rPr lang="en-US" sz="1800" dirty="0"/>
              <a:t>parking/environment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endParaRPr lang="en-US" sz="1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98269CA-0188-BC74-E066-09CA429C9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11385"/>
            <a:ext cx="6125140" cy="394676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53AA1FF-7926-3D3C-F02F-5BC387FAEC9C}"/>
              </a:ext>
            </a:extLst>
          </p:cNvPr>
          <p:cNvSpPr txBox="1"/>
          <p:nvPr/>
        </p:nvSpPr>
        <p:spPr>
          <a:xfrm>
            <a:off x="7387492" y="5158153"/>
            <a:ext cx="61116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Node-RED Flow for Smart Parking System</a:t>
            </a:r>
          </a:p>
        </p:txBody>
      </p:sp>
    </p:spTree>
    <p:extLst>
      <p:ext uri="{BB962C8B-B14F-4D97-AF65-F5344CB8AC3E}">
        <p14:creationId xmlns:p14="http://schemas.microsoft.com/office/powerpoint/2010/main" val="85076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964D7-5A10-4075-84F3-63A035AB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72C5B-1E85-469B-A79B-61130734E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981201"/>
            <a:ext cx="5480538" cy="3809999"/>
          </a:xfrm>
        </p:spPr>
        <p:txBody>
          <a:bodyPr/>
          <a:lstStyle/>
          <a:p>
            <a:r>
              <a:rPr lang="en-US" dirty="0"/>
              <a:t>The system provides </a:t>
            </a:r>
            <a:r>
              <a:rPr lang="en-US" b="1" dirty="0"/>
              <a:t>real-time parking status</a:t>
            </a:r>
            <a:r>
              <a:rPr lang="en-US" dirty="0"/>
              <a:t> including filled and available slots. </a:t>
            </a:r>
          </a:p>
          <a:p>
            <a:r>
              <a:rPr lang="en-US" dirty="0"/>
              <a:t>Data is displayed on </a:t>
            </a:r>
            <a:r>
              <a:rPr lang="en-US" b="1" dirty="0"/>
              <a:t>Node-RED dashboard</a:t>
            </a:r>
            <a:r>
              <a:rPr lang="en-US" dirty="0"/>
              <a:t> with clear visualization. </a:t>
            </a:r>
          </a:p>
          <a:p>
            <a:r>
              <a:rPr lang="en-US" dirty="0"/>
              <a:t>ESP32 serial monitor shows </a:t>
            </a:r>
            <a:r>
              <a:rPr lang="en-US" b="1" dirty="0"/>
              <a:t>live updates of vehicle count and sensor data</a:t>
            </a:r>
            <a:r>
              <a:rPr lang="en-US" dirty="0"/>
              <a:t>. </a:t>
            </a:r>
          </a:p>
          <a:p>
            <a:r>
              <a:rPr lang="en-US" dirty="0"/>
              <a:t>Mobile MQTT application enables </a:t>
            </a:r>
            <a:r>
              <a:rPr lang="en-US" b="1" dirty="0"/>
              <a:t>remote monitoring of parking status</a:t>
            </a:r>
            <a:r>
              <a:rPr lang="en-US" dirty="0"/>
              <a:t>. </a:t>
            </a:r>
          </a:p>
          <a:p>
            <a:r>
              <a:rPr lang="en-US" dirty="0"/>
              <a:t>The system responds instantly to </a:t>
            </a:r>
            <a:r>
              <a:rPr lang="en-US" b="1" dirty="0"/>
              <a:t>vehicle entry and exit events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17980-94C7-4A58-8EB8-5A40DA66E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6C9112-7DAA-171E-022A-E9BBEED8C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276" y="642967"/>
            <a:ext cx="3228035" cy="5757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803AB0-6C66-1942-D20A-242D48DBB917}"/>
              </a:ext>
            </a:extLst>
          </p:cNvPr>
          <p:cNvSpPr txBox="1"/>
          <p:nvPr/>
        </p:nvSpPr>
        <p:spPr>
          <a:xfrm>
            <a:off x="7029939" y="265633"/>
            <a:ext cx="61038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Mobile Monitoring using MQTT Application 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159633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964D7-5A10-4075-84F3-63A035AB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55475"/>
            <a:ext cx="9601200" cy="1142385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17980-94C7-4A58-8EB8-5A40DA66E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AA71CDA-4B77-0244-CB8D-623D9EA3A7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0754" y="1851974"/>
            <a:ext cx="544927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Accuracy: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Vehicle detection achieved accurate results in all test cases.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Latency: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detection &lt; 1 sec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MQTT transmission &lt; 1 sec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updates are instant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Reliable System: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Continuous operation showed stable performance.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Monitoring: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updates reduce manual effort and errors.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B1DC9D-AF7B-00DC-0839-86443AADF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51973"/>
            <a:ext cx="5947508" cy="33081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19B651-00C9-51D3-55C5-D6578FD7C178}"/>
              </a:ext>
            </a:extLst>
          </p:cNvPr>
          <p:cNvSpPr txBox="1"/>
          <p:nvPr/>
        </p:nvSpPr>
        <p:spPr>
          <a:xfrm>
            <a:off x="6490677" y="5376016"/>
            <a:ext cx="61038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Serial Monitor Output of Smart Parking System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988187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38B6B2-5BF4-DA03-F8AC-080D66E05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2" descr="Picture 2">
            <a:extLst>
              <a:ext uri="{FF2B5EF4-FFF2-40B4-BE49-F238E27FC236}">
                <a16:creationId xmlns:a16="http://schemas.microsoft.com/office/drawing/2014/main" id="{E3916F52-BF31-9903-1BFB-89DADC2AD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59" y="1050330"/>
            <a:ext cx="11056081" cy="546178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771B2C-AEE7-BE78-B657-E3973E80884E}"/>
              </a:ext>
            </a:extLst>
          </p:cNvPr>
          <p:cNvSpPr txBox="1"/>
          <p:nvPr/>
        </p:nvSpPr>
        <p:spPr>
          <a:xfrm>
            <a:off x="4354830" y="494907"/>
            <a:ext cx="6103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Smart Parking Dashboard </a:t>
            </a:r>
          </a:p>
        </p:txBody>
      </p:sp>
    </p:spTree>
    <p:extLst>
      <p:ext uri="{BB962C8B-B14F-4D97-AF65-F5344CB8AC3E}">
        <p14:creationId xmlns:p14="http://schemas.microsoft.com/office/powerpoint/2010/main" val="182992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70FB47-B309-534A-6D94-E7015C9C6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257300"/>
            <a:ext cx="6256020" cy="4884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500" b="1" dirty="0"/>
              <a:t>Vehicle Detection Accuracy:</a:t>
            </a:r>
            <a:endParaRPr lang="en-IN" sz="1500" dirty="0"/>
          </a:p>
          <a:p>
            <a:r>
              <a:rPr lang="en-IN" sz="1500" dirty="0"/>
              <a:t>System achieved </a:t>
            </a:r>
            <a:r>
              <a:rPr lang="en-IN" sz="1500" b="1" dirty="0"/>
              <a:t>100% accuracy</a:t>
            </a:r>
            <a:r>
              <a:rPr lang="en-IN" sz="1500" dirty="0"/>
              <a:t> in all test cases </a:t>
            </a:r>
          </a:p>
          <a:p>
            <a:r>
              <a:rPr lang="en-IN" sz="1500" dirty="0"/>
              <a:t>Actual count matched detected count for all vehicles </a:t>
            </a:r>
          </a:p>
          <a:p>
            <a:pPr marL="0" indent="0">
              <a:buNone/>
            </a:pPr>
            <a:r>
              <a:rPr lang="en-IN" sz="1600" b="1" dirty="0"/>
              <a:t>Response Time:</a:t>
            </a:r>
            <a:endParaRPr lang="en-IN" sz="1600" dirty="0"/>
          </a:p>
          <a:p>
            <a:r>
              <a:rPr lang="en-IN" sz="1600" dirty="0"/>
              <a:t>Sensor Detection: </a:t>
            </a:r>
            <a:r>
              <a:rPr lang="en-IN" sz="1600" b="1" dirty="0"/>
              <a:t>&lt; 1 second</a:t>
            </a:r>
            <a:r>
              <a:rPr lang="en-IN" sz="1600" dirty="0"/>
              <a:t> </a:t>
            </a:r>
          </a:p>
          <a:p>
            <a:r>
              <a:rPr lang="en-IN" sz="1600" dirty="0"/>
              <a:t>MQTT Transmission: </a:t>
            </a:r>
            <a:r>
              <a:rPr lang="en-IN" sz="1600" b="1" dirty="0"/>
              <a:t>&lt; 1 second</a:t>
            </a:r>
            <a:r>
              <a:rPr lang="en-IN" sz="1600" dirty="0"/>
              <a:t> </a:t>
            </a:r>
          </a:p>
          <a:p>
            <a:r>
              <a:rPr lang="en-IN" sz="1600" dirty="0"/>
              <a:t>Dashboard Update: </a:t>
            </a:r>
            <a:r>
              <a:rPr lang="en-IN" sz="1600" b="1" dirty="0"/>
              <a:t>Instant</a:t>
            </a:r>
            <a:r>
              <a:rPr lang="en-IN" sz="1600" dirty="0"/>
              <a:t> </a:t>
            </a:r>
          </a:p>
          <a:p>
            <a:pPr marL="0" indent="0">
              <a:buNone/>
            </a:pPr>
            <a:r>
              <a:rPr lang="en-IN" sz="1400" b="1" dirty="0"/>
              <a:t>System Reliability:</a:t>
            </a:r>
            <a:endParaRPr lang="en-IN" sz="1400" dirty="0"/>
          </a:p>
          <a:p>
            <a:r>
              <a:rPr lang="en-IN" sz="1400" dirty="0"/>
              <a:t>System tested continuously with </a:t>
            </a:r>
            <a:r>
              <a:rPr lang="en-IN" sz="1400" b="1" dirty="0"/>
              <a:t>stable performance</a:t>
            </a:r>
            <a:r>
              <a:rPr lang="en-IN" sz="1400" dirty="0"/>
              <a:t> </a:t>
            </a:r>
          </a:p>
          <a:p>
            <a:r>
              <a:rPr lang="en-IN" sz="1400" dirty="0"/>
              <a:t>No significant errors observed </a:t>
            </a:r>
          </a:p>
          <a:p>
            <a:r>
              <a:rPr lang="en-IN" sz="1400" dirty="0"/>
              <a:t>MQTT ensured </a:t>
            </a:r>
            <a:r>
              <a:rPr lang="en-IN" sz="1400" b="1" dirty="0"/>
              <a:t>reliable data communication</a:t>
            </a:r>
            <a:endParaRPr lang="en-IN" sz="1400" dirty="0"/>
          </a:p>
          <a:p>
            <a:endParaRPr lang="en-IN" sz="12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C5466D3-830C-1FAC-6315-96AF824B9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0" y="0"/>
            <a:ext cx="9601200" cy="1142385"/>
          </a:xfrm>
        </p:spPr>
        <p:txBody>
          <a:bodyPr/>
          <a:lstStyle/>
          <a:p>
            <a:r>
              <a:rPr lang="en-IN" dirty="0"/>
              <a:t>Performance Analysis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C82E265-3577-08CF-8AF8-27538C878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308622"/>
              </p:ext>
            </p:extLst>
          </p:nvPr>
        </p:nvGraphicFramePr>
        <p:xfrm>
          <a:off x="6515100" y="859131"/>
          <a:ext cx="4960620" cy="4594864"/>
        </p:xfrm>
        <a:graphic>
          <a:graphicData uri="http://schemas.openxmlformats.org/drawingml/2006/table">
            <a:tbl>
              <a:tblPr/>
              <a:tblGrid>
                <a:gridCol w="1653540">
                  <a:extLst>
                    <a:ext uri="{9D8B030D-6E8A-4147-A177-3AD203B41FA5}">
                      <a16:colId xmlns:a16="http://schemas.microsoft.com/office/drawing/2014/main" val="788563188"/>
                    </a:ext>
                  </a:extLst>
                </a:gridCol>
                <a:gridCol w="1653540">
                  <a:extLst>
                    <a:ext uri="{9D8B030D-6E8A-4147-A177-3AD203B41FA5}">
                      <a16:colId xmlns:a16="http://schemas.microsoft.com/office/drawing/2014/main" val="1755893107"/>
                    </a:ext>
                  </a:extLst>
                </a:gridCol>
                <a:gridCol w="1653540">
                  <a:extLst>
                    <a:ext uri="{9D8B030D-6E8A-4147-A177-3AD203B41FA5}">
                      <a16:colId xmlns:a16="http://schemas.microsoft.com/office/drawing/2014/main" val="3315201484"/>
                    </a:ext>
                  </a:extLst>
                </a:gridCol>
              </a:tblGrid>
              <a:tr h="13984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Test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Actual 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Detected 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583428"/>
                  </a:ext>
                </a:extLst>
              </a:tr>
              <a:tr h="799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Test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678944"/>
                  </a:ext>
                </a:extLst>
              </a:tr>
              <a:tr h="799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Test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751442"/>
                  </a:ext>
                </a:extLst>
              </a:tr>
              <a:tr h="799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Test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44706"/>
                  </a:ext>
                </a:extLst>
              </a:tr>
              <a:tr h="799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Test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32274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02A2B75-6F6C-50F4-1A27-A9D74D950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274959"/>
              </p:ext>
            </p:extLst>
          </p:nvPr>
        </p:nvGraphicFramePr>
        <p:xfrm>
          <a:off x="6301740" y="1199842"/>
          <a:ext cx="5646420" cy="419669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82140">
                  <a:extLst>
                    <a:ext uri="{9D8B030D-6E8A-4147-A177-3AD203B41FA5}">
                      <a16:colId xmlns:a16="http://schemas.microsoft.com/office/drawing/2014/main" val="2416998209"/>
                    </a:ext>
                  </a:extLst>
                </a:gridCol>
                <a:gridCol w="1882140">
                  <a:extLst>
                    <a:ext uri="{9D8B030D-6E8A-4147-A177-3AD203B41FA5}">
                      <a16:colId xmlns:a16="http://schemas.microsoft.com/office/drawing/2014/main" val="2305808883"/>
                    </a:ext>
                  </a:extLst>
                </a:gridCol>
                <a:gridCol w="1882140">
                  <a:extLst>
                    <a:ext uri="{9D8B030D-6E8A-4147-A177-3AD203B41FA5}">
                      <a16:colId xmlns:a16="http://schemas.microsoft.com/office/drawing/2014/main" val="3423757067"/>
                    </a:ext>
                  </a:extLst>
                </a:gridCol>
              </a:tblGrid>
              <a:tr h="8393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716496"/>
                  </a:ext>
                </a:extLst>
              </a:tr>
              <a:tr h="8393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987412"/>
                  </a:ext>
                </a:extLst>
              </a:tr>
              <a:tr h="83933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785922"/>
                  </a:ext>
                </a:extLst>
              </a:tr>
              <a:tr h="8393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35942"/>
                  </a:ext>
                </a:extLst>
              </a:tr>
              <a:tr h="8393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57075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296AD-A26E-434C-A007-D2E2E36FF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C781317-6F18-1D76-CA05-9EDAF7E1469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23553" y="1987542"/>
            <a:ext cx="960119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successfully developed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IoT-based Smart Parking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monitoring.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vehicle detection and slot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sensors and ESP32.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MQTT and Node-RED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efficient communication and visualization.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accuracy, low latency, and reliable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real-time conditions.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cost-effective, scalable, and suitable for smart city applications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4120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128</TotalTime>
  <Words>836</Words>
  <Application>Microsoft Office PowerPoint</Application>
  <PresentationFormat>Widescreen</PresentationFormat>
  <Paragraphs>157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Courier New</vt:lpstr>
      <vt:lpstr>Google Sans</vt:lpstr>
      <vt:lpstr>Wingdings</vt:lpstr>
      <vt:lpstr>Diamond Grid 16x9</vt:lpstr>
      <vt:lpstr>Title : Smart Parking System Using ESP32, MQTT &amp; Node-RED</vt:lpstr>
      <vt:lpstr>Outline</vt:lpstr>
      <vt:lpstr>Objective</vt:lpstr>
      <vt:lpstr> Introduction</vt:lpstr>
      <vt:lpstr>PowerPoint Presentation</vt:lpstr>
      <vt:lpstr>Detailed Description of this Project</vt:lpstr>
      <vt:lpstr>Detailed Description</vt:lpstr>
      <vt:lpstr> Equipment/Tools Required</vt:lpstr>
      <vt:lpstr>Hardware Implementation</vt:lpstr>
      <vt:lpstr>PowerPoint Presentation</vt:lpstr>
      <vt:lpstr>Results and Analysis</vt:lpstr>
      <vt:lpstr>Results</vt:lpstr>
      <vt:lpstr>PowerPoint Presentation</vt:lpstr>
      <vt:lpstr>Performance Analysis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Project</dc:title>
  <dc:creator>IIITDM</dc:creator>
  <cp:lastModifiedBy>Tarun Dandugula</cp:lastModifiedBy>
  <cp:revision>90</cp:revision>
  <dcterms:created xsi:type="dcterms:W3CDTF">2020-01-03T04:38:34Z</dcterms:created>
  <dcterms:modified xsi:type="dcterms:W3CDTF">2026-04-15T11:14:18Z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